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Nanum Myeongjo" panose="020B0600000101010101" charset="-127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M+bCUvenF61d/n1JSZnmwmXjq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57E794-F923-425F-9342-50D212DDBFCA}">
  <a:tblStyle styleId="{FA57E794-F923-425F-9342-50D212DDBF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346e61307_6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b346e61307_6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316c4edf1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제왕절개는 분명 산모와 신생아의 생명을 구해온 중요한 의료 기술입니다.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그러나 저희는 과도하게 시행되고 있는 우리나라의 제왕절개 실태를 알게 되었습니다.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2024년 기준 한국의 제왕절개율은 약 66.9%로, OECD 평균인 약 30%에 비해 매우 높은 수준입니다.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b316c4edf1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316c4edf1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b316c4edf1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316c4edf1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이러한 근거로 인하여 제왕절개 수술과  관련된 산모의 심리적 요인(불안, 두려움, 우울 등)은 제왕절개 수술의 빈도 및 선택 과정에 영향을 미쳐 의료의 적정성을 저해하기 때문에 불필요한 제왕절개를 줄이고 산모의 전반적인 건강 증진을 도모하고자 하였습니다다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b316c4edf1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316c4edf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b316c4edf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346e6130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b346e6130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346e61307_6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b346e61307_6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346e61307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b346e61307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346e61307_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b346e61307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316c4edf1_1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b316c4edf1_1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316c4edf1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b316c4edf1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316c4edf1_1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b316c4edf1_1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316c4edf1_1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b316c4edf1_1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357940c20_6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b357940c20_6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316c4edf1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b316c4edf1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316c4edf1_1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3b316c4edf1_1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316c4edf1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b316c4edf1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316c4edf1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b316c4edf1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316c4edf1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3b316c4edf1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41.png"/><Relationship Id="rId4" Type="http://schemas.openxmlformats.org/officeDocument/2006/relationships/image" Target="../media/image14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45.png"/><Relationship Id="rId4" Type="http://schemas.openxmlformats.org/officeDocument/2006/relationships/image" Target="../media/image14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47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48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47.png"/><Relationship Id="rId4" Type="http://schemas.openxmlformats.org/officeDocument/2006/relationships/image" Target="../media/image14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43400" cy="10287000"/>
          </a:xfrm>
          <a:prstGeom prst="rect">
            <a:avLst/>
          </a:prstGeom>
          <a:noFill/>
          <a:ln>
            <a:noFill/>
          </a:ln>
          <a:effectLst>
            <a:outerShdw blurRad="131739" dist="79131" dir="20520000">
              <a:srgbClr val="000000">
                <a:alpha val="2750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813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7531100"/>
            <a:ext cx="11328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8900" y="7759700"/>
            <a:ext cx="4064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551400" y="889000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280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200" y="84455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200" y="84963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200" y="85598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49800" y="935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526000" y="9448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38700" y="6819900"/>
            <a:ext cx="4064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10200" y="68326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1700" y="6819900"/>
            <a:ext cx="4318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13">
            <a:alphaModFix amt="42000"/>
          </a:blip>
          <a:srcRect/>
          <a:stretch/>
        </p:blipFill>
        <p:spPr>
          <a:xfrm rot="-600000">
            <a:off x="10731500" y="6705600"/>
            <a:ext cx="75184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2160000">
            <a:off x="14846300" y="127000"/>
            <a:ext cx="698500" cy="82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409700" y="2641600"/>
            <a:ext cx="1280160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700">
                <a:solidFill>
                  <a:srgbClr val="1C364C"/>
                </a:solidFill>
              </a:rPr>
              <a:t>분만방식에 영향을 미치는</a:t>
            </a:r>
            <a:endParaRPr sz="5700">
              <a:solidFill>
                <a:srgbClr val="1C364C"/>
              </a:solidFill>
            </a:endParaRPr>
          </a:p>
          <a:p>
            <a:pPr marL="0" marR="0" lvl="0" indent="0" algn="l" rtl="0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700">
                <a:solidFill>
                  <a:srgbClr val="1C364C"/>
                </a:solidFill>
              </a:rPr>
              <a:t>심리적 요인 분석</a:t>
            </a:r>
            <a:endParaRPr sz="5700">
              <a:solidFill>
                <a:srgbClr val="1C364C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409700" y="6845300"/>
            <a:ext cx="32766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rgbClr val="1C364C"/>
                </a:solidFill>
              </a:rPr>
              <a:t>3팀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 rot="5400000">
            <a:off x="16078200" y="6261100"/>
            <a:ext cx="32004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1C364C"/>
                </a:solidFill>
                <a:latin typeface="Arial"/>
                <a:ea typeface="Arial"/>
                <a:cs typeface="Arial"/>
                <a:sym typeface="Arial"/>
              </a:rPr>
              <a:t>MIRI RESEARCH LAB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828800" y="7823200"/>
            <a:ext cx="356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이다혜 박수연 유성빈 윤나라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b346e61307_6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43400" cy="10287000"/>
          </a:xfrm>
          <a:prstGeom prst="rect">
            <a:avLst/>
          </a:prstGeom>
          <a:noFill/>
          <a:ln>
            <a:noFill/>
          </a:ln>
          <a:effectLst>
            <a:outerShdw blurRad="131739" dist="79131" dir="20520000">
              <a:srgbClr val="000000">
                <a:alpha val="2750"/>
              </a:srgbClr>
            </a:outerShdw>
          </a:effectLst>
        </p:spPr>
      </p:pic>
      <p:pic>
        <p:nvPicPr>
          <p:cNvPr id="109" name="Google Shape;109;g3b346e61307_6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813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b346e61307_6_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9454776"/>
            <a:ext cx="11328401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346e61307_6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51400" y="889000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346e61307_6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280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b346e61307_6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455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b346e61307_6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963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b346e61307_6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5598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b346e61307_6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49800" y="935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b346e61307_6_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526000" y="9448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b346e61307_6_60"/>
          <p:cNvPicPr preferRelativeResize="0"/>
          <p:nvPr/>
        </p:nvPicPr>
        <p:blipFill rotWithShape="1">
          <a:blip r:embed="rId9">
            <a:alphaModFix amt="42000"/>
          </a:blip>
          <a:srcRect/>
          <a:stretch/>
        </p:blipFill>
        <p:spPr>
          <a:xfrm rot="-600000">
            <a:off x="10731500" y="8629276"/>
            <a:ext cx="75184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b346e61307_6_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160001">
            <a:off x="14846300" y="2050676"/>
            <a:ext cx="698500" cy="82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b346e61307_6_60"/>
          <p:cNvSpPr txBox="1"/>
          <p:nvPr/>
        </p:nvSpPr>
        <p:spPr>
          <a:xfrm>
            <a:off x="842700" y="380146"/>
            <a:ext cx="24591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700">
                <a:solidFill>
                  <a:srgbClr val="1C364C"/>
                </a:solidFill>
              </a:rPr>
              <a:t>목차</a:t>
            </a:r>
            <a:endParaRPr sz="5700">
              <a:solidFill>
                <a:srgbClr val="1C364C"/>
              </a:solidFill>
            </a:endParaRPr>
          </a:p>
        </p:txBody>
      </p:sp>
      <p:sp>
        <p:nvSpPr>
          <p:cNvPr id="121" name="Google Shape;121;g3b346e61307_6_60"/>
          <p:cNvSpPr txBox="1"/>
          <p:nvPr/>
        </p:nvSpPr>
        <p:spPr>
          <a:xfrm rot="5400000">
            <a:off x="16078150" y="6261050"/>
            <a:ext cx="3200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1C364C"/>
                </a:solidFill>
                <a:latin typeface="Arial"/>
                <a:ea typeface="Arial"/>
                <a:cs typeface="Arial"/>
                <a:sym typeface="Arial"/>
              </a:rPr>
              <a:t>MIRI RESEARCH LAB</a:t>
            </a:r>
            <a:endParaRPr/>
          </a:p>
        </p:txBody>
      </p:sp>
      <p:sp>
        <p:nvSpPr>
          <p:cNvPr id="122" name="Google Shape;122;g3b346e61307_6_60"/>
          <p:cNvSpPr txBox="1"/>
          <p:nvPr/>
        </p:nvSpPr>
        <p:spPr>
          <a:xfrm>
            <a:off x="1614752" y="1538159"/>
            <a:ext cx="9218400" cy="6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연구 배경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플로우 차트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 전 데이터 요약 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전처리(제외변수,파생변수)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 후 데이터 요약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데이터 기술통계&amp;시각화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단변량 로지스틱 회귀&amp;시각화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다변량 로지스틱 회귀&amp;시각화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분석 결론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1C364C"/>
              </a:buClr>
              <a:buSzPts val="2400"/>
              <a:buFont typeface="Calibri"/>
              <a:buAutoNum type="arabicPeriod"/>
            </a:pPr>
            <a:r>
              <a:rPr lang="ko-KR" sz="24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기대효과&amp;개선방향</a:t>
            </a:r>
            <a:endParaRPr sz="24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b316c4edf1_0_4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b316c4edf1_0_4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b316c4edf1_0_4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316c4edf1_0_48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b316c4edf1_0_48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b316c4edf1_0_483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pic>
        <p:nvPicPr>
          <p:cNvPr id="133" name="Google Shape;133;g3b316c4edf1_0_483" title="chartF006901_1Im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38551" y="1438850"/>
            <a:ext cx="11562625" cy="59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b316c4edf1_0_483"/>
          <p:cNvSpPr txBox="1"/>
          <p:nvPr/>
        </p:nvSpPr>
        <p:spPr>
          <a:xfrm>
            <a:off x="4849875" y="8439250"/>
            <a:ext cx="1392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333333"/>
                </a:solidFill>
              </a:rPr>
              <a:t>출처 : </a:t>
            </a:r>
            <a:r>
              <a:rPr lang="ko-KR" sz="1000">
                <a:solidFill>
                  <a:srgbClr val="757575"/>
                </a:solidFill>
              </a:rPr>
              <a:t>건강보험심사평가원·국민건강보험공단,「건강보험통계」</a:t>
            </a:r>
            <a:endParaRPr sz="1000">
              <a:solidFill>
                <a:srgbClr val="757575"/>
              </a:solidFill>
            </a:endParaRPr>
          </a:p>
        </p:txBody>
      </p:sp>
      <p:sp>
        <p:nvSpPr>
          <p:cNvPr id="135" name="Google Shape;135;g3b316c4edf1_0_483"/>
          <p:cNvSpPr txBox="1"/>
          <p:nvPr/>
        </p:nvSpPr>
        <p:spPr>
          <a:xfrm>
            <a:off x="1196600" y="6085300"/>
            <a:ext cx="861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316c4edf1_0_483"/>
          <p:cNvSpPr txBox="1"/>
          <p:nvPr/>
        </p:nvSpPr>
        <p:spPr>
          <a:xfrm>
            <a:off x="1196588" y="7446975"/>
            <a:ext cx="165159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000">
                <a:solidFill>
                  <a:schemeClr val="dk1"/>
                </a:solidFill>
              </a:rPr>
              <a:t>2024년 기준 </a:t>
            </a:r>
            <a:r>
              <a:rPr lang="ko-KR" sz="3000" b="1">
                <a:solidFill>
                  <a:srgbClr val="FF0000"/>
                </a:solidFill>
              </a:rPr>
              <a:t>한국의 제왕절개율은 66.9%</a:t>
            </a:r>
            <a:r>
              <a:rPr lang="ko-KR" sz="3000">
                <a:solidFill>
                  <a:schemeClr val="dk1"/>
                </a:solidFill>
              </a:rPr>
              <a:t>에 달하며, 이는 OECD </a:t>
            </a:r>
            <a:r>
              <a:rPr lang="ko-KR" sz="3000" b="1">
                <a:solidFill>
                  <a:schemeClr val="dk1"/>
                </a:solidFill>
              </a:rPr>
              <a:t>평균(약 30%)을 훨씬 뛰어 넘음</a:t>
            </a:r>
            <a:r>
              <a:rPr lang="ko-KR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</p:txBody>
      </p:sp>
      <p:sp>
        <p:nvSpPr>
          <p:cNvPr id="137" name="Google Shape;137;g3b316c4edf1_0_483"/>
          <p:cNvSpPr txBox="1"/>
          <p:nvPr/>
        </p:nvSpPr>
        <p:spPr>
          <a:xfrm>
            <a:off x="574513" y="370225"/>
            <a:ext cx="10666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3700" b="0" i="0" u="none" strike="noStrike" cap="none">
                <a:solidFill>
                  <a:srgbClr val="1C364C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</a:t>
            </a:r>
            <a:r>
              <a:rPr lang="ko-KR" sz="37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배경: </a:t>
            </a:r>
            <a:r>
              <a:rPr lang="ko-KR" sz="37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한국의 과도하게 높은 제왕절개 비율</a:t>
            </a:r>
            <a:endParaRPr sz="3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b316c4edf1_0_3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b316c4edf1_0_3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g3b316c4edf1_0_376"/>
          <p:cNvGrpSpPr/>
          <p:nvPr/>
        </p:nvGrpSpPr>
        <p:grpSpPr>
          <a:xfrm>
            <a:off x="2553269" y="7444468"/>
            <a:ext cx="12239784" cy="1883835"/>
            <a:chOff x="7797800" y="2641600"/>
            <a:chExt cx="2502000" cy="647700"/>
          </a:xfrm>
        </p:grpSpPr>
        <p:pic>
          <p:nvPicPr>
            <p:cNvPr id="145" name="Google Shape;145;g3b316c4edf1_0_37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7823200" y="2641600"/>
              <a:ext cx="24384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g3b316c4edf1_0_376"/>
            <p:cNvSpPr txBox="1"/>
            <p:nvPr/>
          </p:nvSpPr>
          <p:spPr>
            <a:xfrm>
              <a:off x="7797800" y="2781300"/>
              <a:ext cx="2502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단기간에 바꾸기 어려운 정책,제도적 문제가 아닌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개인 수준에서의 선택을 보강할 수 있는 연구의 필요성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g3b316c4edf1_0_376"/>
          <p:cNvGrpSpPr/>
          <p:nvPr/>
        </p:nvGrpSpPr>
        <p:grpSpPr>
          <a:xfrm>
            <a:off x="1154150" y="1522713"/>
            <a:ext cx="6946901" cy="3848100"/>
            <a:chOff x="1816100" y="4749800"/>
            <a:chExt cx="6946901" cy="3848100"/>
          </a:xfrm>
        </p:grpSpPr>
        <p:pic>
          <p:nvPicPr>
            <p:cNvPr id="148" name="Google Shape;148;g3b316c4edf1_0_37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16100" y="4762500"/>
              <a:ext cx="6946901" cy="38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g3b316c4edf1_0_37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16100" y="4749800"/>
              <a:ext cx="6946901" cy="73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g3b316c4edf1_0_376"/>
            <p:cNvSpPr txBox="1"/>
            <p:nvPr/>
          </p:nvSpPr>
          <p:spPr>
            <a:xfrm>
              <a:off x="3095053" y="4936252"/>
              <a:ext cx="44289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제왕절개의 남용은 위험</a:t>
              </a:r>
              <a:endParaRPr/>
            </a:p>
          </p:txBody>
        </p:sp>
        <p:sp>
          <p:nvSpPr>
            <p:cNvPr id="151" name="Google Shape;151;g3b316c4edf1_0_376"/>
            <p:cNvSpPr txBox="1"/>
            <p:nvPr/>
          </p:nvSpPr>
          <p:spPr>
            <a:xfrm>
              <a:off x="2204350" y="5720850"/>
              <a:ext cx="6210300" cy="21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제왕절개 후 산모 사망, 중증 질환률</a:t>
              </a: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은 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자연분만보다 높으며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제왕절개의 증가는 산모,신생아의 건강개선과 비례하지 않으며 소득,민간병원 편향과 강한 연관성 보고됨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latin typeface="Calibri"/>
                  <a:ea typeface="Calibri"/>
                  <a:cs typeface="Calibri"/>
                  <a:sym typeface="Calibri"/>
                </a:rPr>
                <a:t>(2015 lancet, Short-term and long-term effects of caesarean section on the health of women and children)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2" name="Google Shape;152;g3b316c4edf1_0_37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b316c4edf1_0_37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316c4edf1_0_37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3b316c4edf1_0_376"/>
          <p:cNvGrpSpPr/>
          <p:nvPr/>
        </p:nvGrpSpPr>
        <p:grpSpPr>
          <a:xfrm>
            <a:off x="9145625" y="1522713"/>
            <a:ext cx="6946901" cy="3848100"/>
            <a:chOff x="1816100" y="4749800"/>
            <a:chExt cx="6946901" cy="3848100"/>
          </a:xfrm>
        </p:grpSpPr>
        <p:pic>
          <p:nvPicPr>
            <p:cNvPr id="156" name="Google Shape;156;g3b316c4edf1_0_37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16100" y="4762500"/>
              <a:ext cx="6946901" cy="38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g3b316c4edf1_0_37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16100" y="4749800"/>
              <a:ext cx="6946901" cy="73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g3b316c4edf1_0_376"/>
            <p:cNvSpPr txBox="1"/>
            <p:nvPr/>
          </p:nvSpPr>
          <p:spPr>
            <a:xfrm>
              <a:off x="3095049" y="4936263"/>
              <a:ext cx="5439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제왕절개를 유도하는 한국 의료 사회구조</a:t>
              </a:r>
              <a:endParaRPr/>
            </a:p>
          </p:txBody>
        </p:sp>
        <p:sp>
          <p:nvSpPr>
            <p:cNvPr id="159" name="Google Shape;159;g3b316c4edf1_0_376"/>
            <p:cNvSpPr txBox="1"/>
            <p:nvPr/>
          </p:nvSpPr>
          <p:spPr>
            <a:xfrm>
              <a:off x="2084488" y="5853425"/>
              <a:ext cx="6450000" cy="21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산부인과 의사 수의 감소, 소송 리스크 회피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저출산 환경에서 리스크 제로를 기대하는 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산모와 가족 예측 가능하며 </a:t>
              </a:r>
              <a:r>
                <a:rPr lang="ko-KR" sz="28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법적 위험이 낮은 제왕절개를 선택</a:t>
              </a:r>
              <a:r>
                <a:rPr lang="ko-KR" sz="2400">
                  <a:latin typeface="Calibri"/>
                  <a:ea typeface="Calibri"/>
                  <a:cs typeface="Calibri"/>
                  <a:sym typeface="Calibri"/>
                </a:rPr>
                <a:t>하는 경향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336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latin typeface="Calibri"/>
                  <a:ea typeface="Calibri"/>
                  <a:cs typeface="Calibri"/>
                  <a:sym typeface="Calibri"/>
                </a:rPr>
                <a:t>(2025 IJGO, Is a rising cesarean delivery rate explained by late birth trend? A decomposition analysis of health insurance claims data (2013-2022) from South Korea)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g3b316c4edf1_0_376"/>
          <p:cNvSpPr/>
          <p:nvPr/>
        </p:nvSpPr>
        <p:spPr>
          <a:xfrm>
            <a:off x="7641050" y="5737843"/>
            <a:ext cx="1762200" cy="1587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316c4edf1_0_376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162" name="Google Shape;162;g3b316c4edf1_0_376"/>
          <p:cNvSpPr txBox="1"/>
          <p:nvPr/>
        </p:nvSpPr>
        <p:spPr>
          <a:xfrm>
            <a:off x="560625" y="354725"/>
            <a:ext cx="30225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5000" b="0" i="0" u="none" strike="noStrike" cap="none">
                <a:solidFill>
                  <a:srgbClr val="1C364C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</a:t>
            </a:r>
            <a:r>
              <a:rPr lang="ko-KR" sz="50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b316c4edf1_0_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316c4edf1_0_1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b316c4edf1_0_1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350" y="2792073"/>
            <a:ext cx="17376350" cy="1666820"/>
          </a:xfrm>
          <a:prstGeom prst="rect">
            <a:avLst/>
          </a:prstGeom>
          <a:noFill/>
          <a:ln>
            <a:noFill/>
          </a:ln>
          <a:effectLst>
            <a:outerShdw blurRad="38755" dist="11636" dir="1380001">
              <a:srgbClr val="787878">
                <a:alpha val="9800"/>
              </a:srgbClr>
            </a:outerShdw>
          </a:effectLst>
        </p:spPr>
      </p:pic>
      <p:pic>
        <p:nvPicPr>
          <p:cNvPr id="170" name="Google Shape;170;g3b316c4edf1_0_1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954129" y="2239297"/>
            <a:ext cx="1666820" cy="277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b316c4edf1_0_1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350" y="4752132"/>
            <a:ext cx="17376350" cy="4012714"/>
          </a:xfrm>
          <a:prstGeom prst="rect">
            <a:avLst/>
          </a:prstGeom>
          <a:noFill/>
          <a:ln>
            <a:noFill/>
          </a:ln>
          <a:effectLst>
            <a:outerShdw blurRad="224338" dist="27995" dir="1380000">
              <a:srgbClr val="787878">
                <a:alpha val="9800"/>
              </a:srgbClr>
            </a:outerShdw>
          </a:effectLst>
        </p:spPr>
      </p:pic>
      <p:pic>
        <p:nvPicPr>
          <p:cNvPr id="172" name="Google Shape;172;g3b316c4edf1_0_1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400000">
            <a:off x="-233536" y="5387738"/>
            <a:ext cx="4028149" cy="277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b316c4edf1_0_1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b316c4edf1_0_1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b316c4edf1_0_1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316c4edf1_0_1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15827" y="3270513"/>
            <a:ext cx="196027" cy="21606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316c4edf1_0_132"/>
          <p:cNvSpPr txBox="1"/>
          <p:nvPr/>
        </p:nvSpPr>
        <p:spPr>
          <a:xfrm>
            <a:off x="560625" y="354725"/>
            <a:ext cx="30225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5000" b="0" i="0" u="none" strike="noStrike" cap="none">
                <a:solidFill>
                  <a:srgbClr val="1C364C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</a:t>
            </a:r>
            <a:r>
              <a:rPr lang="ko-KR" sz="5000" b="0" i="0" u="none" strike="noStrike" cap="none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/>
          </a:p>
        </p:txBody>
      </p:sp>
      <p:sp>
        <p:nvSpPr>
          <p:cNvPr id="178" name="Google Shape;178;g3b316c4edf1_0_132"/>
          <p:cNvSpPr txBox="1"/>
          <p:nvPr/>
        </p:nvSpPr>
        <p:spPr>
          <a:xfrm>
            <a:off x="1087445" y="2313825"/>
            <a:ext cx="14703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242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 sz="1543"/>
          </a:p>
        </p:txBody>
      </p:sp>
      <p:sp>
        <p:nvSpPr>
          <p:cNvPr id="179" name="Google Shape;179;g3b316c4edf1_0_132"/>
          <p:cNvSpPr txBox="1"/>
          <p:nvPr/>
        </p:nvSpPr>
        <p:spPr>
          <a:xfrm>
            <a:off x="835411" y="3393981"/>
            <a:ext cx="1988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242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필요성</a:t>
            </a:r>
            <a:endParaRPr sz="1543"/>
          </a:p>
        </p:txBody>
      </p:sp>
      <p:sp>
        <p:nvSpPr>
          <p:cNvPr id="180" name="Google Shape;180;g3b316c4edf1_0_132"/>
          <p:cNvSpPr txBox="1"/>
          <p:nvPr/>
        </p:nvSpPr>
        <p:spPr>
          <a:xfrm>
            <a:off x="4223014" y="3131611"/>
            <a:ext cx="105852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Font typeface="Arial"/>
              <a:buNone/>
            </a:pPr>
            <a:r>
              <a:rPr lang="ko-KR" sz="2635">
                <a:solidFill>
                  <a:schemeClr val="dk1"/>
                </a:solidFill>
              </a:rPr>
              <a:t>제왕절개 수술과 관련된 산모의 </a:t>
            </a:r>
            <a:r>
              <a:rPr lang="ko-KR" sz="2635" b="1">
                <a:solidFill>
                  <a:srgbClr val="FF0000"/>
                </a:solidFill>
              </a:rPr>
              <a:t>심리적 요인(불안, 두려움, 우울 등)</a:t>
            </a:r>
            <a:r>
              <a:rPr lang="ko-KR" sz="2635">
                <a:solidFill>
                  <a:schemeClr val="dk1"/>
                </a:solidFill>
              </a:rPr>
              <a:t>은 제왕절개 수술의 빈도 및 선택 과정에 영향을 미쳐 의료의 적정성을 저해</a:t>
            </a:r>
            <a:endParaRPr sz="1643"/>
          </a:p>
        </p:txBody>
      </p:sp>
      <p:sp>
        <p:nvSpPr>
          <p:cNvPr id="181" name="Google Shape;181;g3b316c4edf1_0_132"/>
          <p:cNvSpPr txBox="1"/>
          <p:nvPr/>
        </p:nvSpPr>
        <p:spPr>
          <a:xfrm>
            <a:off x="835411" y="6542421"/>
            <a:ext cx="1988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연구</a:t>
            </a:r>
            <a:r>
              <a:rPr lang="ko-KR" sz="242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25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sz="1543"/>
          </a:p>
        </p:txBody>
      </p:sp>
      <p:sp>
        <p:nvSpPr>
          <p:cNvPr id="182" name="Google Shape;182;g3b316c4edf1_0_132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316c4edf1_0_132"/>
          <p:cNvSpPr txBox="1"/>
          <p:nvPr/>
        </p:nvSpPr>
        <p:spPr>
          <a:xfrm>
            <a:off x="4458886" y="6366023"/>
            <a:ext cx="11160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35">
                <a:solidFill>
                  <a:schemeClr val="dk1"/>
                </a:solidFill>
              </a:rPr>
              <a:t>불필요한 제왕절개를 줄이고 </a:t>
            </a:r>
            <a:r>
              <a:rPr lang="ko-KR" sz="2635" b="1">
                <a:solidFill>
                  <a:srgbClr val="FF0000"/>
                </a:solidFill>
              </a:rPr>
              <a:t>산모의 전반적인 건강 증진을 도모</a:t>
            </a:r>
            <a:r>
              <a:rPr lang="ko-KR" sz="2635">
                <a:solidFill>
                  <a:schemeClr val="dk1"/>
                </a:solidFill>
              </a:rPr>
              <a:t>하고자 함</a:t>
            </a:r>
            <a:endParaRPr sz="1643"/>
          </a:p>
        </p:txBody>
      </p:sp>
      <p:pic>
        <p:nvPicPr>
          <p:cNvPr id="184" name="Google Shape;184;g3b316c4edf1_0_1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111854" y="6585315"/>
            <a:ext cx="196027" cy="21606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b316c4edf1_0_132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b316c4edf1_0_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316c4edf1_0_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b316c4edf1_0_116"/>
          <p:cNvSpPr txBox="1"/>
          <p:nvPr/>
        </p:nvSpPr>
        <p:spPr>
          <a:xfrm>
            <a:off x="832575" y="393700"/>
            <a:ext cx="3935368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 dirty="0" err="1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플로우차트</a:t>
            </a:r>
            <a:endParaRPr dirty="0"/>
          </a:p>
        </p:txBody>
      </p:sp>
      <p:pic>
        <p:nvPicPr>
          <p:cNvPr id="193" name="Google Shape;193;g3b316c4edf1_0_1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b316c4edf1_0_1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b316c4edf1_0_1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316c4edf1_0_116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pic>
        <p:nvPicPr>
          <p:cNvPr id="197" name="Google Shape;197;g3b316c4edf1_0_1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6900" y="1349375"/>
            <a:ext cx="14963001" cy="89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0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 txBox="1"/>
          <p:nvPr/>
        </p:nvSpPr>
        <p:spPr>
          <a:xfrm>
            <a:off x="1155698" y="366864"/>
            <a:ext cx="88617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 전 데이터 요약 </a:t>
            </a:r>
            <a:endParaRPr/>
          </a:p>
        </p:txBody>
      </p:sp>
      <p:pic>
        <p:nvPicPr>
          <p:cNvPr id="205" name="Google Shape;20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4197325" y="1780825"/>
            <a:ext cx="13119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8043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sz="2500" b="1">
                <a:solidFill>
                  <a:srgbClr val="202020"/>
                </a:solidFill>
                <a:highlight>
                  <a:srgbClr val="FFFFFF"/>
                </a:highlight>
              </a:rPr>
              <a:t>베트남 호치민시의 한 3차 병원에서 임산부의 제왕절개 선호도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4645300" y="2547950"/>
            <a:ext cx="28161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1F1F1F"/>
                </a:solidFill>
                <a:highlight>
                  <a:srgbClr val="FFFFFF"/>
                </a:highlight>
              </a:rPr>
              <a:t>599 rows × 76 columns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6225" y="3040500"/>
            <a:ext cx="11764609" cy="432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77700" y="2468375"/>
            <a:ext cx="5540125" cy="51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b346e61307_2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b346e61307_2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b346e61307_2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b346e61307_2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b346e61307_2_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b346e61307_2_1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223" name="Google Shape;223;g3b346e61307_2_1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</a:t>
            </a:r>
            <a:endParaRPr/>
          </a:p>
        </p:txBody>
      </p:sp>
      <p:sp>
        <p:nvSpPr>
          <p:cNvPr id="224" name="Google Shape;224;g3b346e61307_2_1"/>
          <p:cNvSpPr txBox="1"/>
          <p:nvPr/>
        </p:nvSpPr>
        <p:spPr>
          <a:xfrm>
            <a:off x="1533900" y="8059025"/>
            <a:ext cx="127755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Calibri"/>
                <a:ea typeface="Calibri"/>
                <a:cs typeface="Calibri"/>
                <a:sym typeface="Calibri"/>
              </a:rPr>
              <a:t>● 범주형,연속형 변수들은 카테고리를 </a:t>
            </a:r>
            <a:r>
              <a:rPr lang="ko-KR" sz="1800" b="1">
                <a:latin typeface="Calibri"/>
                <a:ea typeface="Calibri"/>
                <a:cs typeface="Calibri"/>
                <a:sym typeface="Calibri"/>
              </a:rPr>
              <a:t>원-핫 인코딩 </a:t>
            </a:r>
            <a:r>
              <a:rPr lang="ko-KR" sz="1800">
                <a:latin typeface="Calibri"/>
                <a:ea typeface="Calibri"/>
                <a:cs typeface="Calibri"/>
                <a:sym typeface="Calibri"/>
              </a:rPr>
              <a:t>형식으로 보고자 하는 범위 지정 분석시 </a:t>
            </a:r>
            <a:r>
              <a:rPr lang="ko-KR" sz="1800" b="1">
                <a:latin typeface="Calibri"/>
                <a:ea typeface="Calibri"/>
                <a:cs typeface="Calibri"/>
                <a:sym typeface="Calibri"/>
              </a:rPr>
              <a:t>dropfirst</a:t>
            </a:r>
            <a:r>
              <a:rPr lang="ko-KR" sz="1800">
                <a:latin typeface="Calibri"/>
                <a:ea typeface="Calibri"/>
                <a:cs typeface="Calibri"/>
                <a:sym typeface="Calibri"/>
              </a:rPr>
              <a:t>를 사용하여 기준변수를 지정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b346e61307_2_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8350" y="2237675"/>
            <a:ext cx="15811499" cy="518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b346e61307_6_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b346e61307_6_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b346e61307_6_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b346e61307_6_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b346e61307_6_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b346e61307_6_48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236" name="Google Shape;236;g3b346e61307_6_48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제외 변수</a:t>
            </a:r>
            <a:endParaRPr/>
          </a:p>
        </p:txBody>
      </p:sp>
      <p:pic>
        <p:nvPicPr>
          <p:cNvPr id="237" name="Google Shape;237;g3b346e61307_6_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7304" y="1387075"/>
            <a:ext cx="12118383" cy="69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b346e61307_6_48"/>
          <p:cNvSpPr txBox="1"/>
          <p:nvPr/>
        </p:nvSpPr>
        <p:spPr>
          <a:xfrm>
            <a:off x="2454575" y="8606850"/>
            <a:ext cx="153333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산전 수업 참여 유무,요가 수업 참여 유무:  선행 연구 논문 x  p value 값도 의미 x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출산 날짜 선택:  제왕절개는 날짜 지정해서 분석 의미 없어서 제외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가족&amp;의사 권유:  </a:t>
            </a:r>
            <a:r>
              <a:rPr lang="ko-KR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종속변수를 결정하는 변수</a:t>
            </a: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이기에 과대 해석여부로 인해 제외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b346e61307_2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b346e61307_2_13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파생 변수</a:t>
            </a:r>
            <a:endParaRPr/>
          </a:p>
        </p:txBody>
      </p:sp>
      <p:pic>
        <p:nvPicPr>
          <p:cNvPr id="245" name="Google Shape;245;g3b346e61307_2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b346e61307_2_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b346e61307_2_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b346e61307_2_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b346e61307_2_13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graphicFrame>
        <p:nvGraphicFramePr>
          <p:cNvPr id="250" name="Google Shape;250;g3b346e61307_2_13"/>
          <p:cNvGraphicFramePr/>
          <p:nvPr/>
        </p:nvGraphicFramePr>
        <p:xfrm>
          <a:off x="1155700" y="4398775"/>
          <a:ext cx="15411075" cy="4185790"/>
        </p:xfrm>
        <a:graphic>
          <a:graphicData uri="http://schemas.openxmlformats.org/drawingml/2006/table">
            <a:tbl>
              <a:tblPr>
                <a:noFill/>
                <a:tableStyleId>{FA57E794-F923-425F-9342-50D212DDBFCA}</a:tableStyleId>
              </a:tblPr>
              <a:tblGrid>
                <a:gridCol w="365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30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BMI</a:t>
                      </a:r>
                      <a:endParaRPr sz="30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78A0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30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표준화된 두려움 점수</a:t>
                      </a:r>
                      <a:endParaRPr sz="30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78A0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30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표준화된 분만 지식 점수</a:t>
                      </a:r>
                      <a:endParaRPr sz="30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78A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300"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신체질량지수(BMI) 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체중(kg) / [신장(m)]2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진통 통증 두려움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회음부 절개에 대한 두려움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 실패에 대한 두려움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 합병증 두려움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제왕 절개, 자연 분만 관련 상식 퀴즈(30 문항) 점수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예) 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 시 병원 입원 기간을 단축시킨다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자연분만이 출혈이 적다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자연분만시 응급 제왕절개 가능성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자연분만시 기구 분만 보조 가능성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제왕절개시 응급제왕절개를 피할 수 있다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81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400"/>
                        <a:buFont typeface="Calibri"/>
                        <a:buChar char="●"/>
                      </a:pPr>
                      <a:r>
                        <a:rPr lang="ko-K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제왕절개시 모유수유 가능성을 줄인다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1" name="Google Shape;251;g3b346e61307_2_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38375" y="2391375"/>
            <a:ext cx="1829925" cy="18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b346e61307_2_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78425" y="2353487"/>
            <a:ext cx="1905700" cy="19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b346e61307_2_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077700" y="2429912"/>
            <a:ext cx="1752826" cy="175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b346e61307_6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b346e61307_6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b346e61307_6_2"/>
          <p:cNvSpPr txBox="1"/>
          <p:nvPr/>
        </p:nvSpPr>
        <p:spPr>
          <a:xfrm>
            <a:off x="1155700" y="393700"/>
            <a:ext cx="76470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전처리 후 데이터 요약</a:t>
            </a:r>
            <a:endParaRPr/>
          </a:p>
        </p:txBody>
      </p:sp>
      <p:pic>
        <p:nvPicPr>
          <p:cNvPr id="261" name="Google Shape;261;g3b346e61307_6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b346e61307_6_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b346e61307_6_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b346e61307_6_2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graphicFrame>
        <p:nvGraphicFramePr>
          <p:cNvPr id="265" name="Google Shape;265;g3b346e61307_6_2"/>
          <p:cNvGraphicFramePr/>
          <p:nvPr/>
        </p:nvGraphicFramePr>
        <p:xfrm>
          <a:off x="846513" y="8397213"/>
          <a:ext cx="15698700" cy="1594423"/>
        </p:xfrm>
        <a:graphic>
          <a:graphicData uri="http://schemas.openxmlformats.org/drawingml/2006/table">
            <a:tbl>
              <a:tblPr>
                <a:noFill/>
                <a:tableStyleId>{FA57E794-F923-425F-9342-50D212DDBFCA}</a:tableStyleId>
              </a:tblPr>
              <a:tblGrid>
                <a:gridCol w="82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70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solidFill>
                            <a:schemeClr val="lt1"/>
                          </a:solidFill>
                        </a:rPr>
                        <a:t>delivery_pref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solidFill>
                            <a:srgbClr val="FFFFFF"/>
                          </a:solidFill>
                        </a:rPr>
                        <a:t>선호하는 분만방식</a:t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Vaginal delivery </a:t>
                      </a:r>
                      <a:endParaRPr sz="2000"/>
                    </a:p>
                    <a:p>
                      <a:pPr marL="0" marR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자연분만</a:t>
                      </a:r>
                      <a:endParaRPr sz="2000"/>
                    </a:p>
                  </a:txBody>
                  <a:tcPr marL="19050" marR="19050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Cesarean section </a:t>
                      </a:r>
                      <a:endParaRPr sz="2000"/>
                    </a:p>
                    <a:p>
                      <a:pPr marL="0" marR="0" lvl="0" indent="0" algn="ctr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제왕절개</a:t>
                      </a:r>
                      <a:endParaRPr sz="2000"/>
                    </a:p>
                  </a:txBody>
                  <a:tcPr marL="19050" marR="19050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" name="Google Shape;266;g3b346e61307_6_2"/>
          <p:cNvSpPr txBox="1"/>
          <p:nvPr/>
        </p:nvSpPr>
        <p:spPr>
          <a:xfrm>
            <a:off x="846525" y="1155688"/>
            <a:ext cx="1989300" cy="6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독립변수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b346e61307_6_2"/>
          <p:cNvSpPr txBox="1"/>
          <p:nvPr/>
        </p:nvSpPr>
        <p:spPr>
          <a:xfrm>
            <a:off x="914775" y="7410600"/>
            <a:ext cx="1989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g3b346e61307_6_2"/>
          <p:cNvGraphicFramePr/>
          <p:nvPr/>
        </p:nvGraphicFramePr>
        <p:xfrm>
          <a:off x="914775" y="1832863"/>
          <a:ext cx="4699875" cy="5496410"/>
        </p:xfrm>
        <a:graphic>
          <a:graphicData uri="http://schemas.openxmlformats.org/drawingml/2006/table">
            <a:tbl>
              <a:tblPr>
                <a:noFill/>
                <a:tableStyleId>{FA57E794-F923-425F-9342-50D212DDBFCA}</a:tableStyleId>
              </a:tblPr>
              <a:tblGrid>
                <a:gridCol w="46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solidFill>
                            <a:schemeClr val="lt1"/>
                          </a:solidFill>
                        </a:rPr>
                        <a:t>SECTION A: 인구통계학적 요인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Age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 나이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Residence 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지역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Ethnicity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민족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occupation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직업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Education level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학력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8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health insurance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건강보험 유무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9" name="Google Shape;269;g3b346e61307_6_2"/>
          <p:cNvGraphicFramePr/>
          <p:nvPr/>
        </p:nvGraphicFramePr>
        <p:xfrm>
          <a:off x="5614650" y="1832825"/>
          <a:ext cx="5739150" cy="5496325"/>
        </p:xfrm>
        <a:graphic>
          <a:graphicData uri="http://schemas.openxmlformats.org/drawingml/2006/table">
            <a:tbl>
              <a:tblPr>
                <a:noFill/>
                <a:tableStyleId>{FA57E794-F923-425F-9342-50D212DDBFCA}</a:tableStyleId>
              </a:tblPr>
              <a:tblGrid>
                <a:gridCol w="28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17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solidFill>
                            <a:schemeClr val="lt1"/>
                          </a:solidFill>
                        </a:rPr>
                        <a:t>SECTION B: 임상적 요인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BMI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체질량 지수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Previous Delivery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이전 출산 방식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Chromic disease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과거 만성질환 유무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anemia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빈혈 유무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IVF/IUI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체외수정/인공수정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Gestational age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 임신 주수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8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fetal weight est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태아 예상 체중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Fetus problems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태아건강 이상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Amniotic fluid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양수량 상태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0" name="Google Shape;270;g3b346e61307_6_2"/>
          <p:cNvGraphicFramePr/>
          <p:nvPr/>
        </p:nvGraphicFramePr>
        <p:xfrm>
          <a:off x="11353800" y="1832813"/>
          <a:ext cx="5340400" cy="5531825"/>
        </p:xfrm>
        <a:graphic>
          <a:graphicData uri="http://schemas.openxmlformats.org/drawingml/2006/table">
            <a:tbl>
              <a:tblPr>
                <a:noFill/>
                <a:tableStyleId>{FA57E794-F923-425F-9342-50D212DDBFCA}</a:tableStyleId>
              </a:tblPr>
              <a:tblGrid>
                <a:gridCol w="534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400">
                          <a:solidFill>
                            <a:schemeClr val="lt1"/>
                          </a:solidFill>
                        </a:rPr>
                        <a:t>SECTION C: 심리적 요인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 Belief healthy pregnancy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임신 건강상태 추정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Belief vd ability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자연분만 믿음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Expect companion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보호자 동반 기대 유무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Fear score std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표준화된 두려움 점수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knowledge score std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표준화된 지식 점수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b316c4edf1_1_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b316c4edf1_1_252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데이터 기술통계</a:t>
            </a:r>
            <a:endParaRPr/>
          </a:p>
        </p:txBody>
      </p:sp>
      <p:pic>
        <p:nvPicPr>
          <p:cNvPr id="277" name="Google Shape;277;g3b316c4edf1_1_2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b316c4edf1_1_2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b316c4edf1_1_2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b316c4edf1_1_2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b316c4edf1_1_252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pic>
        <p:nvPicPr>
          <p:cNvPr id="282" name="Google Shape;282;g3b316c4edf1_1_252" title="스크린샷 2025-12-24 12394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511200"/>
            <a:ext cx="9427875" cy="43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316c4edf1_1_2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32675" y="1511200"/>
            <a:ext cx="8402926" cy="436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b316c4edf1_1_252"/>
          <p:cNvSpPr txBox="1"/>
          <p:nvPr/>
        </p:nvSpPr>
        <p:spPr>
          <a:xfrm>
            <a:off x="11534150" y="6758450"/>
            <a:ext cx="54969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Section A:건강보험 유무 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Section B:이전 출산 방식 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Section C:임신 건강 상태 추정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자연분만 믿음,표준화된 두려움 점수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표준화된 분만 지식 점수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p-value값이 0.05이하이므로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유의한 것으로 확인</a:t>
            </a:r>
            <a:endParaRPr sz="2000"/>
          </a:p>
        </p:txBody>
      </p:sp>
      <p:pic>
        <p:nvPicPr>
          <p:cNvPr id="285" name="Google Shape;285;g3b316c4edf1_1_2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7325" y="6025125"/>
            <a:ext cx="9362949" cy="35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3b316c4edf1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888" y="1638200"/>
            <a:ext cx="14969226" cy="84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b316c4edf1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b316c4edf1_3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b316c4edf1_3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b316c4edf1_3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b316c4edf1_3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b316c4edf1_3_0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기술통계 시각화</a:t>
            </a:r>
            <a:endParaRPr/>
          </a:p>
        </p:txBody>
      </p:sp>
      <p:sp>
        <p:nvSpPr>
          <p:cNvPr id="297" name="Google Shape;297;g3b316c4edf1_3_0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298" name="Google Shape;298;g3b316c4edf1_3_0"/>
          <p:cNvSpPr/>
          <p:nvPr/>
        </p:nvSpPr>
        <p:spPr>
          <a:xfrm>
            <a:off x="1483930" y="5854736"/>
            <a:ext cx="1961700" cy="4210500"/>
          </a:xfrm>
          <a:prstGeom prst="rect">
            <a:avLst/>
          </a:prstGeom>
          <a:noFill/>
          <a:ln w="29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316c4edf1_3_0"/>
          <p:cNvSpPr/>
          <p:nvPr/>
        </p:nvSpPr>
        <p:spPr>
          <a:xfrm>
            <a:off x="15405100" y="6581075"/>
            <a:ext cx="939900" cy="3342900"/>
          </a:xfrm>
          <a:prstGeom prst="rect">
            <a:avLst/>
          </a:prstGeom>
          <a:noFill/>
          <a:ln w="29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b316c4edf1_1_3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b316c4edf1_1_3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b316c4edf1_1_3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b316c4edf1_1_37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b316c4edf1_1_37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b316c4edf1_1_370"/>
          <p:cNvSpPr txBox="1"/>
          <p:nvPr/>
        </p:nvSpPr>
        <p:spPr>
          <a:xfrm>
            <a:off x="790875" y="8130850"/>
            <a:ext cx="48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건강보험 유무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p-value값이 0.05이하이므로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유의한 것으로 확인</a:t>
            </a:r>
            <a:endParaRPr sz="2000"/>
          </a:p>
        </p:txBody>
      </p:sp>
      <p:sp>
        <p:nvSpPr>
          <p:cNvPr id="310" name="Google Shape;310;g3b316c4edf1_1_370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311" name="Google Shape;311;g3b316c4edf1_1_370"/>
          <p:cNvSpPr txBox="1"/>
          <p:nvPr/>
        </p:nvSpPr>
        <p:spPr>
          <a:xfrm>
            <a:off x="1155700" y="469900"/>
            <a:ext cx="100713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45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단변량 로지스틱 회귀</a:t>
            </a:r>
            <a:endParaRPr sz="45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316c4edf1_1_370"/>
          <p:cNvSpPr txBox="1"/>
          <p:nvPr/>
        </p:nvSpPr>
        <p:spPr>
          <a:xfrm>
            <a:off x="6553500" y="8130850"/>
            <a:ext cx="48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이전 출산경력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p-value값이 0.05이하이므로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유의한 것으로 확인</a:t>
            </a:r>
            <a:endParaRPr sz="2000"/>
          </a:p>
        </p:txBody>
      </p:sp>
      <p:sp>
        <p:nvSpPr>
          <p:cNvPr id="313" name="Google Shape;313;g3b316c4edf1_1_370"/>
          <p:cNvSpPr txBox="1"/>
          <p:nvPr/>
        </p:nvSpPr>
        <p:spPr>
          <a:xfrm>
            <a:off x="12843800" y="7277700"/>
            <a:ext cx="4800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자연분만에 대한 믿음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임신건강 상태 추정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두려움 점수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분만 지식점수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p-value값이 0.05이하이므로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유의한 것으로 확인</a:t>
            </a:r>
            <a:endParaRPr sz="2000"/>
          </a:p>
        </p:txBody>
      </p:sp>
      <p:pic>
        <p:nvPicPr>
          <p:cNvPr id="314" name="Google Shape;314;g3b316c4edf1_1_3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859900"/>
            <a:ext cx="5464576" cy="57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b316c4edf1_1_3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16975" y="1915515"/>
            <a:ext cx="5795625" cy="5713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b316c4edf1_1_37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565000" y="2099758"/>
            <a:ext cx="6570601" cy="49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b316c4edf1_1_4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150" y="1357300"/>
            <a:ext cx="15214700" cy="857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b316c4edf1_1_4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b316c4edf1_1_4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b316c4edf1_1_4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b316c4edf1_1_4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b316c4edf1_1_4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b316c4edf1_1_427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단변량(보정 안 한) 모델 시각화</a:t>
            </a:r>
            <a:endParaRPr/>
          </a:p>
        </p:txBody>
      </p:sp>
      <p:sp>
        <p:nvSpPr>
          <p:cNvPr id="328" name="Google Shape;328;g3b316c4edf1_1_427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329" name="Google Shape;329;g3b316c4edf1_1_427"/>
          <p:cNvSpPr/>
          <p:nvPr/>
        </p:nvSpPr>
        <p:spPr>
          <a:xfrm>
            <a:off x="3852006" y="2280917"/>
            <a:ext cx="1440000" cy="1217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b316c4edf1_1_427"/>
          <p:cNvSpPr/>
          <p:nvPr/>
        </p:nvSpPr>
        <p:spPr>
          <a:xfrm>
            <a:off x="3573906" y="4584350"/>
            <a:ext cx="1718100" cy="1217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b316c4edf1_1_427"/>
          <p:cNvSpPr/>
          <p:nvPr/>
        </p:nvSpPr>
        <p:spPr>
          <a:xfrm>
            <a:off x="3266106" y="7043450"/>
            <a:ext cx="2025900" cy="1217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b357940c20_6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b357940c20_6_14"/>
          <p:cNvSpPr txBox="1"/>
          <p:nvPr/>
        </p:nvSpPr>
        <p:spPr>
          <a:xfrm>
            <a:off x="533372" y="190600"/>
            <a:ext cx="116676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다변량(보정한) 로지스틱 회귀 </a:t>
            </a:r>
            <a:endParaRPr sz="4000">
              <a:solidFill>
                <a:srgbClr val="1C36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g3b357940c20_6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b357940c20_6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b357940c20_6_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b357940c20_6_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b357940c20_6_14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343" name="Google Shape;343;g3b357940c20_6_14"/>
          <p:cNvSpPr txBox="1"/>
          <p:nvPr/>
        </p:nvSpPr>
        <p:spPr>
          <a:xfrm>
            <a:off x="10610900" y="1270700"/>
            <a:ext cx="7570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1 = 인구통계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2 = 인구통계 + 임상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3 = 인구통계 + 임상 + 심리/지식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b357940c20_6_14"/>
          <p:cNvSpPr txBox="1"/>
          <p:nvPr/>
        </p:nvSpPr>
        <p:spPr>
          <a:xfrm>
            <a:off x="533375" y="8352025"/>
            <a:ext cx="48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건강보험 유무 : model 1</a:t>
            </a:r>
            <a:endParaRPr sz="2000"/>
          </a:p>
        </p:txBody>
      </p:sp>
      <p:sp>
        <p:nvSpPr>
          <p:cNvPr id="345" name="Google Shape;345;g3b357940c20_6_14"/>
          <p:cNvSpPr txBox="1"/>
          <p:nvPr/>
        </p:nvSpPr>
        <p:spPr>
          <a:xfrm>
            <a:off x="5702512" y="8345946"/>
            <a:ext cx="48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이전 출산 경험 : model 2,3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인공수정 여부 : model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46" name="Google Shape;346;g3b357940c20_6_14"/>
          <p:cNvSpPr txBox="1"/>
          <p:nvPr/>
        </p:nvSpPr>
        <p:spPr>
          <a:xfrm>
            <a:off x="12359425" y="8152225"/>
            <a:ext cx="4800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두려움 점수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분만지식 점수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임신 건강상태 추정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자연분만에 대한 믿음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보호자 동반 기대 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:모두  model 3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g3b357940c20_6_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231900"/>
            <a:ext cx="4908959" cy="671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b357940c20_6_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13750" y="1231900"/>
            <a:ext cx="5057775" cy="671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b357940c20_6_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23925" y="3800200"/>
            <a:ext cx="7757775" cy="404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g3b316c4edf1_4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401" y="1331625"/>
            <a:ext cx="14890501" cy="842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b316c4edf1_4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b316c4edf1_4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b316c4edf1_4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b316c4edf1_4_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b316c4edf1_4_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b316c4edf1_4_1"/>
          <p:cNvSpPr txBox="1"/>
          <p:nvPr/>
        </p:nvSpPr>
        <p:spPr>
          <a:xfrm>
            <a:off x="1155700" y="469900"/>
            <a:ext cx="90042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다변량(보정한) 모델 시각화</a:t>
            </a:r>
            <a:endParaRPr/>
          </a:p>
        </p:txBody>
      </p:sp>
      <p:sp>
        <p:nvSpPr>
          <p:cNvPr id="361" name="Google Shape;361;g3b316c4edf1_4_1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sp>
        <p:nvSpPr>
          <p:cNvPr id="362" name="Google Shape;362;g3b316c4edf1_4_1"/>
          <p:cNvSpPr txBox="1"/>
          <p:nvPr/>
        </p:nvSpPr>
        <p:spPr>
          <a:xfrm>
            <a:off x="4055936" y="8633411"/>
            <a:ext cx="587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b316c4edf1_4_1"/>
          <p:cNvSpPr txBox="1"/>
          <p:nvPr/>
        </p:nvSpPr>
        <p:spPr>
          <a:xfrm>
            <a:off x="8911170" y="1800837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b316c4edf1_4_1"/>
          <p:cNvSpPr txBox="1"/>
          <p:nvPr/>
        </p:nvSpPr>
        <p:spPr>
          <a:xfrm>
            <a:off x="12582684" y="1789107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b316c4edf1_4_1"/>
          <p:cNvSpPr txBox="1"/>
          <p:nvPr/>
        </p:nvSpPr>
        <p:spPr>
          <a:xfrm>
            <a:off x="4424750" y="5892275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b316c4edf1_4_1"/>
          <p:cNvSpPr txBox="1"/>
          <p:nvPr/>
        </p:nvSpPr>
        <p:spPr>
          <a:xfrm>
            <a:off x="4312877" y="7683050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b316c4edf1_4_1"/>
          <p:cNvSpPr txBox="1"/>
          <p:nvPr/>
        </p:nvSpPr>
        <p:spPr>
          <a:xfrm>
            <a:off x="5556425" y="1894675"/>
            <a:ext cx="587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b316c4edf1_4_1"/>
          <p:cNvSpPr txBox="1"/>
          <p:nvPr/>
        </p:nvSpPr>
        <p:spPr>
          <a:xfrm>
            <a:off x="4572000" y="4898363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b316c4edf1_4_1"/>
          <p:cNvSpPr txBox="1"/>
          <p:nvPr/>
        </p:nvSpPr>
        <p:spPr>
          <a:xfrm>
            <a:off x="4806600" y="6709325"/>
            <a:ext cx="505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g3b316c4edf1_1_4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b316c4edf1_1_4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b316c4edf1_1_439"/>
          <p:cNvSpPr txBox="1"/>
          <p:nvPr/>
        </p:nvSpPr>
        <p:spPr>
          <a:xfrm>
            <a:off x="1146150" y="469900"/>
            <a:ext cx="52833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분석 결론</a:t>
            </a:r>
            <a:endParaRPr/>
          </a:p>
        </p:txBody>
      </p:sp>
      <p:pic>
        <p:nvPicPr>
          <p:cNvPr id="377" name="Google Shape;377;g3b316c4edf1_1_4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b316c4edf1_1_4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b316c4edf1_1_4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g3b316c4edf1_1_439"/>
          <p:cNvGrpSpPr/>
          <p:nvPr/>
        </p:nvGrpSpPr>
        <p:grpSpPr>
          <a:xfrm>
            <a:off x="1143000" y="2197544"/>
            <a:ext cx="5468525" cy="3466754"/>
            <a:chOff x="-25" y="4835950"/>
            <a:chExt cx="6070069" cy="3848100"/>
          </a:xfrm>
        </p:grpSpPr>
        <p:pic>
          <p:nvPicPr>
            <p:cNvPr id="381" name="Google Shape;381;g3b316c4edf1_1_43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25" y="4848650"/>
              <a:ext cx="6070069" cy="38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g3b316c4edf1_1_43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-25" y="4835950"/>
              <a:ext cx="6070069" cy="73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g3b316c4edf1_1_439"/>
            <p:cNvSpPr txBox="1"/>
            <p:nvPr/>
          </p:nvSpPr>
          <p:spPr>
            <a:xfrm>
              <a:off x="2352543" y="5013750"/>
              <a:ext cx="18753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1"/>
            </a:p>
          </p:txBody>
        </p:sp>
        <p:grpSp>
          <p:nvGrpSpPr>
            <p:cNvPr id="384" name="Google Shape;384;g3b316c4edf1_1_439"/>
            <p:cNvGrpSpPr/>
            <p:nvPr/>
          </p:nvGrpSpPr>
          <p:grpSpPr>
            <a:xfrm>
              <a:off x="2009131" y="5001051"/>
              <a:ext cx="1977845" cy="419094"/>
              <a:chOff x="2097800" y="5022600"/>
              <a:chExt cx="1973701" cy="419094"/>
            </a:xfrm>
          </p:grpSpPr>
          <p:pic>
            <p:nvPicPr>
              <p:cNvPr id="385" name="Google Shape;385;g3b316c4edf1_1_439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2097800" y="5022600"/>
                <a:ext cx="1871400" cy="330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" name="Google Shape;386;g3b316c4edf1_1_439"/>
              <p:cNvSpPr txBox="1"/>
              <p:nvPr/>
            </p:nvSpPr>
            <p:spPr>
              <a:xfrm>
                <a:off x="2097801" y="5048094"/>
                <a:ext cx="1973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161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98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기술통계표</a:t>
                </a:r>
                <a:endParaRPr sz="3000"/>
              </a:p>
            </p:txBody>
          </p:sp>
        </p:grpSp>
      </p:grpSp>
      <p:sp>
        <p:nvSpPr>
          <p:cNvPr id="387" name="Google Shape;387;g3b316c4edf1_1_439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  <p:grpSp>
        <p:nvGrpSpPr>
          <p:cNvPr id="388" name="Google Shape;388;g3b316c4edf1_1_439"/>
          <p:cNvGrpSpPr/>
          <p:nvPr/>
        </p:nvGrpSpPr>
        <p:grpSpPr>
          <a:xfrm>
            <a:off x="6646537" y="2197544"/>
            <a:ext cx="5468525" cy="3466754"/>
            <a:chOff x="-25" y="4835950"/>
            <a:chExt cx="6070069" cy="3848100"/>
          </a:xfrm>
        </p:grpSpPr>
        <p:pic>
          <p:nvPicPr>
            <p:cNvPr id="389" name="Google Shape;389;g3b316c4edf1_1_43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25" y="4848650"/>
              <a:ext cx="6070069" cy="38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g3b316c4edf1_1_43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-25" y="4835950"/>
              <a:ext cx="6070069" cy="73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g3b316c4edf1_1_439"/>
            <p:cNvSpPr txBox="1"/>
            <p:nvPr/>
          </p:nvSpPr>
          <p:spPr>
            <a:xfrm>
              <a:off x="2352543" y="5013750"/>
              <a:ext cx="18753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1"/>
            </a:p>
          </p:txBody>
        </p:sp>
        <p:grpSp>
          <p:nvGrpSpPr>
            <p:cNvPr id="392" name="Google Shape;392;g3b316c4edf1_1_439"/>
            <p:cNvGrpSpPr/>
            <p:nvPr/>
          </p:nvGrpSpPr>
          <p:grpSpPr>
            <a:xfrm>
              <a:off x="1888628" y="5001051"/>
              <a:ext cx="2289297" cy="406315"/>
              <a:chOff x="1977550" y="5022600"/>
              <a:chExt cx="2284500" cy="406315"/>
            </a:xfrm>
          </p:grpSpPr>
          <p:pic>
            <p:nvPicPr>
              <p:cNvPr id="393" name="Google Shape;393;g3b316c4edf1_1_439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2097800" y="5022600"/>
                <a:ext cx="1871400" cy="330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4" name="Google Shape;394;g3b316c4edf1_1_439"/>
              <p:cNvSpPr txBox="1"/>
              <p:nvPr/>
            </p:nvSpPr>
            <p:spPr>
              <a:xfrm>
                <a:off x="1977550" y="5035315"/>
                <a:ext cx="22845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161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98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단변량 모델</a:t>
                </a:r>
                <a:endParaRPr sz="1261"/>
              </a:p>
            </p:txBody>
          </p:sp>
        </p:grpSp>
      </p:grpSp>
      <p:grpSp>
        <p:nvGrpSpPr>
          <p:cNvPr id="395" name="Google Shape;395;g3b316c4edf1_1_439"/>
          <p:cNvGrpSpPr/>
          <p:nvPr/>
        </p:nvGrpSpPr>
        <p:grpSpPr>
          <a:xfrm>
            <a:off x="12146978" y="2197544"/>
            <a:ext cx="5468525" cy="3466754"/>
            <a:chOff x="-25" y="4835950"/>
            <a:chExt cx="6070069" cy="3848100"/>
          </a:xfrm>
        </p:grpSpPr>
        <p:pic>
          <p:nvPicPr>
            <p:cNvPr id="396" name="Google Shape;396;g3b316c4edf1_1_43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25" y="4848650"/>
              <a:ext cx="6070069" cy="38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g3b316c4edf1_1_43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-25" y="4835950"/>
              <a:ext cx="6070069" cy="73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g3b316c4edf1_1_439"/>
            <p:cNvSpPr txBox="1"/>
            <p:nvPr/>
          </p:nvSpPr>
          <p:spPr>
            <a:xfrm>
              <a:off x="2352543" y="5013750"/>
              <a:ext cx="18753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61"/>
            </a:p>
          </p:txBody>
        </p:sp>
        <p:grpSp>
          <p:nvGrpSpPr>
            <p:cNvPr id="399" name="Google Shape;399;g3b316c4edf1_1_439"/>
            <p:cNvGrpSpPr/>
            <p:nvPr/>
          </p:nvGrpSpPr>
          <p:grpSpPr>
            <a:xfrm>
              <a:off x="2009131" y="5001051"/>
              <a:ext cx="2021940" cy="400001"/>
              <a:chOff x="2097800" y="5022600"/>
              <a:chExt cx="2017703" cy="400001"/>
            </a:xfrm>
          </p:grpSpPr>
          <p:pic>
            <p:nvPicPr>
              <p:cNvPr id="400" name="Google Shape;400;g3b316c4edf1_1_439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2097800" y="5022600"/>
                <a:ext cx="1871400" cy="330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" name="Google Shape;401;g3b316c4edf1_1_439"/>
              <p:cNvSpPr txBox="1"/>
              <p:nvPr/>
            </p:nvSpPr>
            <p:spPr>
              <a:xfrm>
                <a:off x="2373703" y="5029001"/>
                <a:ext cx="17418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61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98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다변량 모델</a:t>
                </a:r>
                <a:endParaRPr sz="1261"/>
              </a:p>
            </p:txBody>
          </p:sp>
        </p:grpSp>
      </p:grpSp>
      <p:grpSp>
        <p:nvGrpSpPr>
          <p:cNvPr id="402" name="Google Shape;402;g3b316c4edf1_1_439"/>
          <p:cNvGrpSpPr/>
          <p:nvPr/>
        </p:nvGrpSpPr>
        <p:grpSpPr>
          <a:xfrm>
            <a:off x="2833606" y="6793455"/>
            <a:ext cx="12239784" cy="1883835"/>
            <a:chOff x="7797800" y="2641600"/>
            <a:chExt cx="2502000" cy="647700"/>
          </a:xfrm>
        </p:grpSpPr>
        <p:pic>
          <p:nvPicPr>
            <p:cNvPr id="403" name="Google Shape;403;g3b316c4edf1_1_43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 rot="10800000">
              <a:off x="7823200" y="2641600"/>
              <a:ext cx="24384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g3b316c4edf1_1_439"/>
            <p:cNvSpPr txBox="1"/>
            <p:nvPr/>
          </p:nvSpPr>
          <p:spPr>
            <a:xfrm>
              <a:off x="7797800" y="2781300"/>
              <a:ext cx="2502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심리, 지식적 요인 등 개인의 능력만으로 </a:t>
              </a:r>
              <a:endPara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분만의 선택을 예측하기 어려우며</a:t>
              </a:r>
              <a:endPara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사회 · 제도적 요인의 변화가 더 중요</a:t>
              </a:r>
              <a:endParaRPr sz="3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g3b316c4edf1_1_439"/>
          <p:cNvSpPr/>
          <p:nvPr/>
        </p:nvSpPr>
        <p:spPr>
          <a:xfrm>
            <a:off x="8501100" y="5410123"/>
            <a:ext cx="1285800" cy="11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b316c4edf1_1_439"/>
          <p:cNvSpPr txBox="1"/>
          <p:nvPr/>
        </p:nvSpPr>
        <p:spPr>
          <a:xfrm>
            <a:off x="1629450" y="2640228"/>
            <a:ext cx="48000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분만지식/두려움 점수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이전 분만경력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자연분만 자신감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임신관련 건강상태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건강보험 여부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b316c4edf1_1_439"/>
          <p:cNvSpPr txBox="1"/>
          <p:nvPr/>
        </p:nvSpPr>
        <p:spPr>
          <a:xfrm>
            <a:off x="6979250" y="2870152"/>
            <a:ext cx="4800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분만지식/두려움 점수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이전 분만경력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자연분만 자신감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임신관련 건강상태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건강보험 여부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체외수정, 배우자 동반기대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b316c4edf1_1_439"/>
          <p:cNvSpPr txBox="1"/>
          <p:nvPr/>
        </p:nvSpPr>
        <p:spPr>
          <a:xfrm>
            <a:off x="13022750" y="2870150"/>
            <a:ext cx="48000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이전 분만경력 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두려움 점수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분만지식 점수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자연분만 자신감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임신관련 건강상태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g3b316c4edf1_1_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1353799" y="0"/>
            <a:ext cx="72771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b316c4edf1_1_1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11200" y="0"/>
            <a:ext cx="1932940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b316c4edf1_1_1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63675" y="2062050"/>
            <a:ext cx="6946901" cy="77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b316c4edf1_1_1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63675" y="2049350"/>
            <a:ext cx="6946901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b316c4edf1_1_1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83075" y="3205050"/>
            <a:ext cx="13462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b316c4edf1_1_17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73575" y="340825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b316c4edf1_1_178"/>
          <p:cNvSpPr txBox="1"/>
          <p:nvPr/>
        </p:nvSpPr>
        <p:spPr>
          <a:xfrm>
            <a:off x="1197000" y="393700"/>
            <a:ext cx="82359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rgbClr val="1C364C"/>
                </a:solidFill>
                <a:latin typeface="Calibri"/>
                <a:ea typeface="Calibri"/>
                <a:cs typeface="Calibri"/>
                <a:sym typeface="Calibri"/>
              </a:rPr>
              <a:t>기대효과 및 개선 방향</a:t>
            </a:r>
            <a:endParaRPr/>
          </a:p>
        </p:txBody>
      </p:sp>
      <p:sp>
        <p:nvSpPr>
          <p:cNvPr id="420" name="Google Shape;420;g3b316c4edf1_1_178"/>
          <p:cNvSpPr txBox="1"/>
          <p:nvPr/>
        </p:nvSpPr>
        <p:spPr>
          <a:xfrm>
            <a:off x="9657963" y="4894150"/>
            <a:ext cx="5958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000">
                <a:solidFill>
                  <a:schemeClr val="dk1"/>
                </a:solidFill>
              </a:rPr>
              <a:t>EHR 기반 데이터 활용</a:t>
            </a:r>
            <a:r>
              <a:rPr lang="ko-KR" sz="2000">
                <a:solidFill>
                  <a:srgbClr val="595959"/>
                </a:solidFill>
              </a:rPr>
              <a:t> </a:t>
            </a:r>
            <a:r>
              <a:rPr lang="ko-KR" sz="2000" b="1">
                <a:solidFill>
                  <a:srgbClr val="FF0000"/>
                </a:solidFill>
              </a:rPr>
              <a:t>잠재적 위험 징후 예측 모델</a:t>
            </a:r>
            <a:r>
              <a:rPr lang="ko-KR" sz="2000" b="1">
                <a:solidFill>
                  <a:schemeClr val="dk1"/>
                </a:solidFill>
              </a:rPr>
              <a:t> </a:t>
            </a:r>
            <a:r>
              <a:rPr lang="ko-KR" sz="2000">
                <a:solidFill>
                  <a:schemeClr val="dk1"/>
                </a:solidFill>
              </a:rPr>
              <a:t>개발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421" name="Google Shape;421;g3b316c4edf1_1_1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91375" y="2049350"/>
            <a:ext cx="6946901" cy="77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b316c4edf1_1_1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91375" y="2036650"/>
            <a:ext cx="6946901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b316c4edf1_1_1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1875" y="3128850"/>
            <a:ext cx="13462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b316c4edf1_1_17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48875" y="3281250"/>
            <a:ext cx="1092200" cy="109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g3b316c4edf1_1_178"/>
          <p:cNvGrpSpPr/>
          <p:nvPr/>
        </p:nvGrpSpPr>
        <p:grpSpPr>
          <a:xfrm>
            <a:off x="4572000" y="2201750"/>
            <a:ext cx="2157975" cy="406400"/>
            <a:chOff x="4572000" y="2201750"/>
            <a:chExt cx="2157975" cy="406400"/>
          </a:xfrm>
        </p:grpSpPr>
        <p:pic>
          <p:nvPicPr>
            <p:cNvPr id="426" name="Google Shape;426;g3b316c4edf1_1_17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0" y="2201750"/>
              <a:ext cx="1696075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g3b316c4edf1_1_178"/>
            <p:cNvSpPr txBox="1"/>
            <p:nvPr/>
          </p:nvSpPr>
          <p:spPr>
            <a:xfrm>
              <a:off x="4921875" y="2208138"/>
              <a:ext cx="1808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기대효과</a:t>
              </a:r>
              <a:endParaRPr/>
            </a:p>
          </p:txBody>
        </p:sp>
      </p:grpSp>
      <p:sp>
        <p:nvSpPr>
          <p:cNvPr id="428" name="Google Shape;428;g3b316c4edf1_1_178"/>
          <p:cNvSpPr txBox="1"/>
          <p:nvPr/>
        </p:nvSpPr>
        <p:spPr>
          <a:xfrm>
            <a:off x="2647575" y="4830650"/>
            <a:ext cx="7010400" cy="11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</a:rPr>
              <a:t>심리적 요인의 영향력 확인 후</a:t>
            </a:r>
            <a:r>
              <a:rPr lang="ko-KR" sz="2000">
                <a:solidFill>
                  <a:srgbClr val="595959"/>
                </a:solidFill>
              </a:rPr>
              <a:t> </a:t>
            </a:r>
            <a:r>
              <a:rPr lang="ko-KR" sz="2000" b="1">
                <a:solidFill>
                  <a:srgbClr val="FF0000"/>
                </a:solidFill>
              </a:rPr>
              <a:t>심리상담 및 출산 교육</a:t>
            </a:r>
            <a:endParaRPr sz="2000"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000" b="1">
                <a:solidFill>
                  <a:srgbClr val="FF0000"/>
                </a:solidFill>
              </a:rPr>
              <a:t> 프로그램</a:t>
            </a:r>
            <a:r>
              <a:rPr lang="ko-KR" sz="2000">
                <a:solidFill>
                  <a:srgbClr val="595959"/>
                </a:solidFill>
              </a:rPr>
              <a:t> </a:t>
            </a:r>
            <a:r>
              <a:rPr lang="ko-KR" sz="2000">
                <a:solidFill>
                  <a:schemeClr val="dk1"/>
                </a:solidFill>
              </a:rPr>
              <a:t>개발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429" name="Google Shape;429;g3b316c4edf1_1_17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405100" y="381000"/>
            <a:ext cx="393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b316c4edf1_1_17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963900" y="393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b316c4edf1_1_17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510000" y="381000"/>
            <a:ext cx="4064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b316c4edf1_1_1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83075" y="7078550"/>
            <a:ext cx="13462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b316c4edf1_1_17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73575" y="728175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b316c4edf1_1_178"/>
          <p:cNvSpPr txBox="1"/>
          <p:nvPr/>
        </p:nvSpPr>
        <p:spPr>
          <a:xfrm>
            <a:off x="9255497" y="8745450"/>
            <a:ext cx="701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 dirty="0">
                <a:solidFill>
                  <a:schemeClr val="dk1"/>
                </a:solidFill>
              </a:rPr>
              <a:t>초음파 영상 데이터를 이용한 </a:t>
            </a:r>
            <a:r>
              <a:rPr lang="ko-KR" sz="2000" b="1" dirty="0">
                <a:solidFill>
                  <a:srgbClr val="FF0000"/>
                </a:solidFill>
              </a:rPr>
              <a:t>분만 방식 예측 </a:t>
            </a:r>
            <a:endParaRPr lang="en-US" altLang="ko-KR" sz="2000" b="1" smtClean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 b="1" smtClean="0">
                <a:solidFill>
                  <a:srgbClr val="FF0000"/>
                </a:solidFill>
              </a:rPr>
              <a:t>딥러닝</a:t>
            </a:r>
            <a:r>
              <a:rPr lang="ko-KR" sz="2000" b="1" dirty="0" smtClean="0">
                <a:solidFill>
                  <a:srgbClr val="FF0000"/>
                </a:solidFill>
              </a:rPr>
              <a:t> </a:t>
            </a:r>
            <a:r>
              <a:rPr lang="ko-KR" sz="2000" b="1" dirty="0">
                <a:solidFill>
                  <a:srgbClr val="FF0000"/>
                </a:solidFill>
              </a:rPr>
              <a:t>모델</a:t>
            </a:r>
            <a:r>
              <a:rPr lang="ko-KR" sz="2000" dirty="0">
                <a:solidFill>
                  <a:schemeClr val="dk1"/>
                </a:solidFill>
              </a:rPr>
              <a:t> 개발</a:t>
            </a:r>
            <a:endParaRPr sz="2000" dirty="0"/>
          </a:p>
        </p:txBody>
      </p:sp>
      <p:pic>
        <p:nvPicPr>
          <p:cNvPr id="435" name="Google Shape;435;g3b316c4edf1_1_1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1875" y="7002350"/>
            <a:ext cx="13462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b316c4edf1_1_17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48875" y="715475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b316c4edf1_1_178"/>
          <p:cNvSpPr txBox="1"/>
          <p:nvPr/>
        </p:nvSpPr>
        <p:spPr>
          <a:xfrm>
            <a:off x="2559675" y="8678750"/>
            <a:ext cx="6210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>
                <a:solidFill>
                  <a:schemeClr val="dk1"/>
                </a:solidFill>
              </a:rPr>
              <a:t> 불필요한 제왕절개 수술이 감소하면서 </a:t>
            </a:r>
            <a:r>
              <a:rPr lang="ko-KR" sz="1900" b="1">
                <a:solidFill>
                  <a:srgbClr val="FF0000"/>
                </a:solidFill>
              </a:rPr>
              <a:t>산모의 수술 후 합병증 위험과 국가 전체의 불필요한 의료 비용</a:t>
            </a:r>
            <a:r>
              <a:rPr lang="ko-KR" sz="1900">
                <a:solidFill>
                  <a:schemeClr val="dk1"/>
                </a:solidFill>
              </a:rPr>
              <a:t>을 줄임</a:t>
            </a:r>
            <a:endParaRPr sz="29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3363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grpSp>
        <p:nvGrpSpPr>
          <p:cNvPr id="438" name="Google Shape;438;g3b316c4edf1_1_178"/>
          <p:cNvGrpSpPr/>
          <p:nvPr/>
        </p:nvGrpSpPr>
        <p:grpSpPr>
          <a:xfrm>
            <a:off x="11795450" y="2214450"/>
            <a:ext cx="1990750" cy="406400"/>
            <a:chOff x="4572000" y="2201750"/>
            <a:chExt cx="1990750" cy="406400"/>
          </a:xfrm>
        </p:grpSpPr>
        <p:pic>
          <p:nvPicPr>
            <p:cNvPr id="439" name="Google Shape;439;g3b316c4edf1_1_17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0" y="2201750"/>
              <a:ext cx="1696075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g3b316c4edf1_1_178"/>
            <p:cNvSpPr txBox="1"/>
            <p:nvPr/>
          </p:nvSpPr>
          <p:spPr>
            <a:xfrm>
              <a:off x="4866550" y="2208150"/>
              <a:ext cx="1696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개선방향</a:t>
              </a:r>
              <a:endParaRPr/>
            </a:p>
          </p:txBody>
        </p:sp>
      </p:grpSp>
      <p:sp>
        <p:nvSpPr>
          <p:cNvPr id="441" name="Google Shape;441;g3b316c4edf1_1_178"/>
          <p:cNvSpPr txBox="1"/>
          <p:nvPr/>
        </p:nvSpPr>
        <p:spPr>
          <a:xfrm>
            <a:off x="12077700" y="469900"/>
            <a:ext cx="3035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FFFF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3팀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g3b316c4edf1_2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43400" cy="10287000"/>
          </a:xfrm>
          <a:prstGeom prst="rect">
            <a:avLst/>
          </a:prstGeom>
          <a:noFill/>
          <a:ln>
            <a:noFill/>
          </a:ln>
          <a:effectLst>
            <a:outerShdw blurRad="131739" dist="79131" dir="20520000">
              <a:srgbClr val="000000">
                <a:alpha val="2750"/>
              </a:srgbClr>
            </a:outerShdw>
          </a:effectLst>
        </p:spPr>
      </p:pic>
      <p:pic>
        <p:nvPicPr>
          <p:cNvPr id="447" name="Google Shape;447;g3b316c4edf1_2_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813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b316c4edf1_2_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7531100"/>
            <a:ext cx="11328401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b316c4edf1_2_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51400" y="889000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b316c4edf1_2_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280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b316c4edf1_2_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455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b316c4edf1_2_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963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b316c4edf1_2_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5598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b316c4edf1_2_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49800" y="935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b316c4edf1_2_3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526000" y="9448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b316c4edf1_2_38"/>
          <p:cNvPicPr preferRelativeResize="0"/>
          <p:nvPr/>
        </p:nvPicPr>
        <p:blipFill rotWithShape="1">
          <a:blip r:embed="rId9">
            <a:alphaModFix amt="42000"/>
          </a:blip>
          <a:srcRect/>
          <a:stretch/>
        </p:blipFill>
        <p:spPr>
          <a:xfrm rot="-600000">
            <a:off x="10731500" y="6705600"/>
            <a:ext cx="75184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b316c4edf1_2_3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160001">
            <a:off x="14846300" y="127000"/>
            <a:ext cx="698500" cy="82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b316c4edf1_2_38"/>
          <p:cNvSpPr txBox="1"/>
          <p:nvPr/>
        </p:nvSpPr>
        <p:spPr>
          <a:xfrm>
            <a:off x="6880575" y="3429000"/>
            <a:ext cx="24591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700">
                <a:solidFill>
                  <a:srgbClr val="1C364C"/>
                </a:solidFill>
              </a:rPr>
              <a:t>Q&amp;A</a:t>
            </a:r>
            <a:endParaRPr sz="5700">
              <a:solidFill>
                <a:srgbClr val="1C364C"/>
              </a:solidFill>
            </a:endParaRPr>
          </a:p>
        </p:txBody>
      </p:sp>
      <p:sp>
        <p:nvSpPr>
          <p:cNvPr id="459" name="Google Shape;459;g3b316c4edf1_2_38"/>
          <p:cNvSpPr txBox="1"/>
          <p:nvPr/>
        </p:nvSpPr>
        <p:spPr>
          <a:xfrm rot="5400000">
            <a:off x="16078150" y="6261050"/>
            <a:ext cx="3200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1C364C"/>
                </a:solidFill>
                <a:latin typeface="Arial"/>
                <a:ea typeface="Arial"/>
                <a:cs typeface="Arial"/>
                <a:sym typeface="Arial"/>
              </a:rPr>
              <a:t>MIRI RESEARCH LAB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g3b316c4edf1_2_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43400" cy="10287000"/>
          </a:xfrm>
          <a:prstGeom prst="rect">
            <a:avLst/>
          </a:prstGeom>
          <a:noFill/>
          <a:ln>
            <a:noFill/>
          </a:ln>
          <a:effectLst>
            <a:outerShdw blurRad="131739" dist="79131" dir="20520000">
              <a:srgbClr val="000000">
                <a:alpha val="2750"/>
              </a:srgbClr>
            </a:outerShdw>
          </a:effectLst>
        </p:spPr>
      </p:pic>
      <p:pic>
        <p:nvPicPr>
          <p:cNvPr id="465" name="Google Shape;465;g3b316c4edf1_2_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813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b316c4edf1_2_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7531100"/>
            <a:ext cx="11328401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b316c4edf1_2_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51400" y="889000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b316c4edf1_2_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2500" y="8280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b316c4edf1_2_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455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b316c4edf1_2_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4963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b316c4edf1_2_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02200" y="8559800"/>
            <a:ext cx="19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b316c4edf1_2_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49800" y="935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b316c4edf1_2_8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526000" y="9448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b316c4edf1_2_84"/>
          <p:cNvPicPr preferRelativeResize="0"/>
          <p:nvPr/>
        </p:nvPicPr>
        <p:blipFill rotWithShape="1">
          <a:blip r:embed="rId9">
            <a:alphaModFix amt="42000"/>
          </a:blip>
          <a:srcRect/>
          <a:stretch/>
        </p:blipFill>
        <p:spPr>
          <a:xfrm rot="-600000">
            <a:off x="10731500" y="6705600"/>
            <a:ext cx="7518401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b316c4edf1_2_8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160001">
            <a:off x="14846300" y="127000"/>
            <a:ext cx="698500" cy="82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b316c4edf1_2_84"/>
          <p:cNvSpPr txBox="1"/>
          <p:nvPr/>
        </p:nvSpPr>
        <p:spPr>
          <a:xfrm>
            <a:off x="6880575" y="3429000"/>
            <a:ext cx="46491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700">
                <a:solidFill>
                  <a:srgbClr val="1C364C"/>
                </a:solidFill>
              </a:rPr>
              <a:t>감사합니다 </a:t>
            </a:r>
            <a:endParaRPr sz="5700">
              <a:solidFill>
                <a:srgbClr val="1C364C"/>
              </a:solidFill>
            </a:endParaRPr>
          </a:p>
        </p:txBody>
      </p:sp>
      <p:sp>
        <p:nvSpPr>
          <p:cNvPr id="477" name="Google Shape;477;g3b316c4edf1_2_84"/>
          <p:cNvSpPr txBox="1"/>
          <p:nvPr/>
        </p:nvSpPr>
        <p:spPr>
          <a:xfrm rot="5400000">
            <a:off x="16078150" y="6261050"/>
            <a:ext cx="32004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1C364C"/>
                </a:solidFill>
                <a:latin typeface="Arial"/>
                <a:ea typeface="Arial"/>
                <a:cs typeface="Arial"/>
                <a:sym typeface="Arial"/>
              </a:rPr>
              <a:t>MIRI RESEARCH 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사용자 지정</PresentationFormat>
  <Paragraphs>238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Calibri</vt:lpstr>
      <vt:lpstr>Nanum Myeongjo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asia</cp:lastModifiedBy>
  <cp:revision>2</cp:revision>
  <dcterms:created xsi:type="dcterms:W3CDTF">2006-08-16T00:00:00Z</dcterms:created>
  <dcterms:modified xsi:type="dcterms:W3CDTF">2026-01-22T07:14:43Z</dcterms:modified>
</cp:coreProperties>
</file>